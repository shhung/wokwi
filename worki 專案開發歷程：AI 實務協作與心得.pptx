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embeddedFontLst>
    <p:embeddedFont>
      <p:font typeface="Inter SemiBold"/>
      <p:regular r:id="rId15"/>
      <p:bold r:id="rId16"/>
      <p:italic r:id="rId17"/>
      <p:boldItalic r:id="rId18"/>
    </p:embeddedFont>
    <p:embeddedFont>
      <p:font typeface="Poppins"/>
      <p:regular r:id="rId19"/>
      <p:bold r:id="rId20"/>
      <p:italic r:id="rId21"/>
      <p:boldItalic r:id="rId22"/>
    </p:embeddedFont>
    <p:embeddedFont>
      <p:font typeface="Inter"/>
      <p:regular r:id="rId23"/>
      <p:bold r:id="rId24"/>
      <p:italic r:id="rId25"/>
      <p:boldItalic r:id="rId26"/>
    </p:embeddedFont>
    <p:embeddedFont>
      <p:font typeface="Inter Medium"/>
      <p:regular r:id="rId27"/>
      <p:bold r:id="rId28"/>
      <p:italic r:id="rId29"/>
      <p:boldItalic r:id="rId30"/>
    </p:embeddedFont>
    <p:embeddedFont>
      <p:font typeface="Poppins ExtraBold"/>
      <p:bold r:id="rId31"/>
      <p:boldItalic r:id="rId32"/>
    </p:embeddedFont>
    <p:embeddedFont>
      <p:font typeface="Inter Black"/>
      <p:bold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.fntdata"/><Relationship Id="rId22" Type="http://schemas.openxmlformats.org/officeDocument/2006/relationships/font" Target="fonts/Poppins-boldItalic.fntdata"/><Relationship Id="rId21" Type="http://schemas.openxmlformats.org/officeDocument/2006/relationships/font" Target="fonts/Poppins-italic.fntdata"/><Relationship Id="rId24" Type="http://schemas.openxmlformats.org/officeDocument/2006/relationships/font" Target="fonts/Inter-bold.fntdata"/><Relationship Id="rId23" Type="http://schemas.openxmlformats.org/officeDocument/2006/relationships/font" Target="fonts/Inter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-boldItalic.fntdata"/><Relationship Id="rId25" Type="http://schemas.openxmlformats.org/officeDocument/2006/relationships/font" Target="fonts/Inter-italic.fntdata"/><Relationship Id="rId28" Type="http://schemas.openxmlformats.org/officeDocument/2006/relationships/font" Target="fonts/InterMedium-bold.fntdata"/><Relationship Id="rId27" Type="http://schemas.openxmlformats.org/officeDocument/2006/relationships/font" Target="fonts/InterMedium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Medium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oppinsExtraBold-bold.fntdata"/><Relationship Id="rId30" Type="http://schemas.openxmlformats.org/officeDocument/2006/relationships/font" Target="fonts/InterMedium-boldItalic.fntdata"/><Relationship Id="rId11" Type="http://schemas.openxmlformats.org/officeDocument/2006/relationships/slide" Target="slides/slide6.xml"/><Relationship Id="rId33" Type="http://schemas.openxmlformats.org/officeDocument/2006/relationships/font" Target="fonts/InterBlack-bold.fntdata"/><Relationship Id="rId10" Type="http://schemas.openxmlformats.org/officeDocument/2006/relationships/slide" Target="slides/slide5.xml"/><Relationship Id="rId32" Type="http://schemas.openxmlformats.org/officeDocument/2006/relationships/font" Target="fonts/PoppinsExtraBold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InterBlack-boldItalic.fntdata"/><Relationship Id="rId15" Type="http://schemas.openxmlformats.org/officeDocument/2006/relationships/font" Target="fonts/InterSemiBold-regular.fntdata"/><Relationship Id="rId14" Type="http://schemas.openxmlformats.org/officeDocument/2006/relationships/slide" Target="slides/slide9.xml"/><Relationship Id="rId17" Type="http://schemas.openxmlformats.org/officeDocument/2006/relationships/font" Target="fonts/InterSemiBold-italic.fntdata"/><Relationship Id="rId16" Type="http://schemas.openxmlformats.org/officeDocument/2006/relationships/font" Target="fonts/InterSemiBold-bold.fntdata"/><Relationship Id="rId19" Type="http://schemas.openxmlformats.org/officeDocument/2006/relationships/font" Target="fonts/Poppins-regular.fntdata"/><Relationship Id="rId18" Type="http://schemas.openxmlformats.org/officeDocument/2006/relationships/font" Target="fonts/InterSemiBold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11" Type="http://schemas.openxmlformats.org/officeDocument/2006/relationships/image" Target="../media/image2.png"/><Relationship Id="rId10" Type="http://schemas.openxmlformats.org/officeDocument/2006/relationships/image" Target="../media/image5.png"/><Relationship Id="rId12" Type="http://schemas.openxmlformats.org/officeDocument/2006/relationships/image" Target="../media/image3.png"/><Relationship Id="rId9" Type="http://schemas.openxmlformats.org/officeDocument/2006/relationships/image" Target="../media/image4.png"/><Relationship Id="rId5" Type="http://schemas.openxmlformats.org/officeDocument/2006/relationships/image" Target="../media/image42.png"/><Relationship Id="rId6" Type="http://schemas.openxmlformats.org/officeDocument/2006/relationships/image" Target="../media/image18.png"/><Relationship Id="rId7" Type="http://schemas.openxmlformats.org/officeDocument/2006/relationships/image" Target="../media/image7.png"/><Relationship Id="rId8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11.png"/><Relationship Id="rId10" Type="http://schemas.openxmlformats.org/officeDocument/2006/relationships/image" Target="../media/image25.png"/><Relationship Id="rId13" Type="http://schemas.openxmlformats.org/officeDocument/2006/relationships/image" Target="../media/image14.png"/><Relationship Id="rId1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9.png"/><Relationship Id="rId9" Type="http://schemas.openxmlformats.org/officeDocument/2006/relationships/image" Target="../media/image28.png"/><Relationship Id="rId5" Type="http://schemas.openxmlformats.org/officeDocument/2006/relationships/image" Target="../media/image15.png"/><Relationship Id="rId6" Type="http://schemas.openxmlformats.org/officeDocument/2006/relationships/image" Target="../media/image20.png"/><Relationship Id="rId7" Type="http://schemas.openxmlformats.org/officeDocument/2006/relationships/image" Target="../media/image10.png"/><Relationship Id="rId8" Type="http://schemas.openxmlformats.org/officeDocument/2006/relationships/image" Target="../media/image47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29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9" Type="http://schemas.openxmlformats.org/officeDocument/2006/relationships/image" Target="../media/image34.png"/><Relationship Id="rId5" Type="http://schemas.openxmlformats.org/officeDocument/2006/relationships/image" Target="../media/image23.png"/><Relationship Id="rId6" Type="http://schemas.openxmlformats.org/officeDocument/2006/relationships/image" Target="../media/image33.png"/><Relationship Id="rId7" Type="http://schemas.openxmlformats.org/officeDocument/2006/relationships/image" Target="../media/image31.png"/><Relationship Id="rId8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0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2.png"/><Relationship Id="rId9" Type="http://schemas.openxmlformats.org/officeDocument/2006/relationships/image" Target="../media/image21.png"/><Relationship Id="rId5" Type="http://schemas.openxmlformats.org/officeDocument/2006/relationships/image" Target="../media/image35.png"/><Relationship Id="rId6" Type="http://schemas.openxmlformats.org/officeDocument/2006/relationships/image" Target="../media/image17.png"/><Relationship Id="rId7" Type="http://schemas.openxmlformats.org/officeDocument/2006/relationships/image" Target="../media/image26.png"/><Relationship Id="rId8" Type="http://schemas.openxmlformats.org/officeDocument/2006/relationships/image" Target="../media/image3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2.png"/><Relationship Id="rId9" Type="http://schemas.openxmlformats.org/officeDocument/2006/relationships/image" Target="../media/image40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24.png"/><Relationship Id="rId8" Type="http://schemas.openxmlformats.org/officeDocument/2006/relationships/image" Target="../media/image3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50.png"/><Relationship Id="rId10" Type="http://schemas.openxmlformats.org/officeDocument/2006/relationships/image" Target="../media/image4.png"/><Relationship Id="rId13" Type="http://schemas.openxmlformats.org/officeDocument/2006/relationships/image" Target="../media/image49.png"/><Relationship Id="rId12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30.png"/><Relationship Id="rId9" Type="http://schemas.openxmlformats.org/officeDocument/2006/relationships/image" Target="../media/image9.png"/><Relationship Id="rId5" Type="http://schemas.openxmlformats.org/officeDocument/2006/relationships/image" Target="../media/image44.png"/><Relationship Id="rId6" Type="http://schemas.openxmlformats.org/officeDocument/2006/relationships/image" Target="../media/image43.png"/><Relationship Id="rId7" Type="http://schemas.openxmlformats.org/officeDocument/2006/relationships/image" Target="../media/image39.png"/><Relationship Id="rId8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image" Target="../media/image41.png"/><Relationship Id="rId10" Type="http://schemas.openxmlformats.org/officeDocument/2006/relationships/image" Target="../media/image45.png"/><Relationship Id="rId12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9" Type="http://schemas.openxmlformats.org/officeDocument/2006/relationships/image" Target="../media/image4.png"/><Relationship Id="rId5" Type="http://schemas.openxmlformats.org/officeDocument/2006/relationships/image" Target="../media/image42.png"/><Relationship Id="rId6" Type="http://schemas.openxmlformats.org/officeDocument/2006/relationships/image" Target="../media/image18.png"/><Relationship Id="rId7" Type="http://schemas.openxmlformats.org/officeDocument/2006/relationships/image" Target="../media/image7.png"/><Relationship Id="rId8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3272375" y="2638425"/>
            <a:ext cx="5858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wokwi</a:t>
            </a:r>
            <a:r>
              <a:rPr b="1" i="0" lang="en-US" sz="48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專案開發歷程</a:t>
            </a:r>
            <a:endParaRPr/>
          </a:p>
        </p:txBody>
      </p:sp>
      <p:pic>
        <p:nvPicPr>
          <p:cNvPr descr="image.png" id="87" name="Google Shape;8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3425" y="3598515"/>
            <a:ext cx="3105150" cy="6971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57350"/>
            <a:ext cx="3492549" cy="462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1657350"/>
            <a:ext cx="3492549" cy="462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1657350"/>
            <a:ext cx="3492549" cy="46291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7" name="Google Shape;97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09550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866775" y="2895600"/>
            <a:ext cx="2180272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AI 操作員 (Nick)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866775" y="3467100"/>
            <a:ext cx="2901999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負責主導開發方向、審核 AI 產出，並下達精確指令引導開發進程。</a:t>
            </a:r>
            <a:endParaRPr/>
          </a:p>
        </p:txBody>
      </p:sp>
      <p:pic>
        <p:nvPicPr>
          <p:cNvPr descr="image.png" id="100" name="Google Shape;100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5074" y="209550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4645074" y="2895600"/>
            <a:ext cx="168021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專業顧問團隊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4645074" y="3467100"/>
            <a:ext cx="2901999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Leong, Wilbur 提供深厚的嵌入式專業建議，引導關鍵技術決策（如：建議採用硬體 I2C 控制器）。</a:t>
            </a:r>
            <a:endParaRPr/>
          </a:p>
        </p:txBody>
      </p:sp>
      <p:pic>
        <p:nvPicPr>
          <p:cNvPr descr="image.png" id="103" name="Google Shape;103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374" y="209550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8423374" y="2895600"/>
            <a:ext cx="112014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執行核心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8423374" y="3467100"/>
            <a:ext cx="2901999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Gemini CLI 擔任「嵌入式開發專家」角色，負責底層實作、高速除錯與文件化。</a:t>
            </a:r>
            <a:endParaRPr/>
          </a:p>
        </p:txBody>
      </p:sp>
      <p:pic>
        <p:nvPicPr>
          <p:cNvPr descr="image.png" id="106" name="Google Shape;106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00125" y="2209800"/>
            <a:ext cx="3048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759374" y="2209800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513861" y="2209800"/>
            <a:ext cx="3905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762000" y="647700"/>
            <a:ext cx="114015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人機協作體系：專業建議與 AI 執行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4" name="Google Shape;11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49275"/>
            <a:ext cx="5286375" cy="5150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349275"/>
            <a:ext cx="5286375" cy="5150048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962025" y="1787425"/>
            <a:ext cx="4730591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217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C2626"/>
                </a:solidFill>
                <a:latin typeface="Poppins"/>
                <a:ea typeface="Poppins"/>
                <a:cs typeface="Poppins"/>
                <a:sym typeface="Poppins"/>
              </a:rPr>
              <a:t>傳統 Web AI 痛點</a:t>
            </a:r>
            <a:endParaRPr/>
          </a:p>
        </p:txBody>
      </p:sp>
      <p:sp>
        <p:nvSpPr>
          <p:cNvPr id="119" name="Google Shape;119;p15"/>
          <p:cNvSpPr/>
          <p:nvPr/>
        </p:nvSpPr>
        <p:spPr>
          <a:xfrm>
            <a:off x="962025" y="2263675"/>
            <a:ext cx="450532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6724650" y="1787425"/>
            <a:ext cx="4730591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217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6A34A"/>
                </a:solidFill>
                <a:latin typeface="Poppins"/>
                <a:ea typeface="Poppins"/>
                <a:cs typeface="Poppins"/>
                <a:sym typeface="Poppins"/>
              </a:rPr>
              <a:t>Gemini CLI (Auto-Edit) 優勢</a:t>
            </a:r>
            <a:endParaRPr/>
          </a:p>
        </p:txBody>
      </p:sp>
      <p:sp>
        <p:nvSpPr>
          <p:cNvPr id="121" name="Google Shape;121;p15"/>
          <p:cNvSpPr/>
          <p:nvPr/>
        </p:nvSpPr>
        <p:spPr>
          <a:xfrm>
            <a:off x="6724650" y="2263675"/>
            <a:ext cx="450532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2" name="Google Shape;12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1835050"/>
            <a:ext cx="207466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24650" y="1835050"/>
            <a:ext cx="207466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1304925" y="2511325"/>
            <a:ext cx="416242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手動搬運：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 開發者需不斷在 IDE 與瀏覽器間複製貼上程式碼，繁瑣且易錯。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1304925" y="3707308"/>
            <a:ext cx="416242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脈絡斷層：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 無法感知整個專案的檔案結構與文件，容易給出不符現狀的建議。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1304925" y="4903291"/>
            <a:ext cx="416242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排版破壞：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 AI 經常重寫整份檔案，導致原有的精細排版遺失，開發者需手動比對差異 (Diff)。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7067550" y="2511325"/>
            <a:ext cx="4162425" cy="10150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主動環境感知：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 直接讀取 readme.md 與工作區源碼，建立零誤差的全域上下文。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7067550" y="3716833"/>
            <a:ext cx="416242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手術式修改 (Surgical Edit)：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 精準鎖定特定行數進行區塊替換，完美保留其餘排版與註解。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7067550" y="4912816"/>
            <a:ext cx="416242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系統級整合：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 修改後能直接觸發 Shell 指令，甚至自動生成結構化的 Git Commit 紀錄。</a:t>
            </a:r>
            <a:endParaRPr/>
          </a:p>
        </p:txBody>
      </p:sp>
      <p:pic>
        <p:nvPicPr>
          <p:cNvPr descr="image.png" id="130" name="Google Shape;130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2025" y="2554188"/>
            <a:ext cx="148232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2025" y="3750171"/>
            <a:ext cx="148232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62025" y="4946153"/>
            <a:ext cx="148232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724650" y="2554188"/>
            <a:ext cx="148232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724650" y="3759696"/>
            <a:ext cx="148232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724650" y="4955678"/>
            <a:ext cx="148232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5"/>
          <p:cNvSpPr txBox="1"/>
          <p:nvPr/>
        </p:nvSpPr>
        <p:spPr>
          <a:xfrm>
            <a:off x="762000" y="434875"/>
            <a:ext cx="114014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超越對話框：從「複製貼上」到「自動化代理」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1" name="Google Shape;14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62100"/>
            <a:ext cx="5405437" cy="22431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5062" y="1562100"/>
            <a:ext cx="5405437" cy="22431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043362"/>
            <a:ext cx="5405437" cy="22431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15062" y="4043362"/>
            <a:ext cx="5405437" cy="2243137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 txBox="1"/>
          <p:nvPr/>
        </p:nvSpPr>
        <p:spPr>
          <a:xfrm>
            <a:off x="1274266" y="2145506"/>
            <a:ext cx="4627765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角色定位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914400" y="2593181"/>
            <a:ext cx="4767262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專業嵌入式開發專家，專注高效能、低延遲的底層解決方案。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6917828" y="2145506"/>
            <a:ext cx="4627765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溝通規則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6557962" y="2593181"/>
            <a:ext cx="4767262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繁體中文說明，英文術語/符號，風格精簡直接，不囉嗦！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1274266" y="4626768"/>
            <a:ext cx="4627765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開發流程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914400" y="5074443"/>
            <a:ext cx="4767262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需求分析 → 設計規劃 → 實作驗證 → 紀錄 (含 User Prompt)。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6917828" y="4626768"/>
            <a:ext cx="4627765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特定規則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6557962" y="5074443"/>
            <a:ext cx="4767262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硬體安全優先、符合業界標準、Git 紀錄與開發歷程隨時同步。</a:t>
            </a:r>
            <a:endParaRPr/>
          </a:p>
        </p:txBody>
      </p:sp>
      <p:pic>
        <p:nvPicPr>
          <p:cNvPr descr="image.png" id="155" name="Google Shape;155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14400" y="2178843"/>
            <a:ext cx="207466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57962" y="2178843"/>
            <a:ext cx="207466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14400" y="4660106"/>
            <a:ext cx="207466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557962" y="4660106"/>
            <a:ext cx="207466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6"/>
          <p:cNvSpPr txBox="1"/>
          <p:nvPr/>
        </p:nvSpPr>
        <p:spPr>
          <a:xfrm>
            <a:off x="762000" y="647700"/>
            <a:ext cx="114014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奠定工程紀律：指定版本規範 (Commit: b8e26a)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4" name="Google Shape;16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62100"/>
            <a:ext cx="5286375" cy="472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562100"/>
            <a:ext cx="5286375" cy="472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7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7"/>
          <p:cNvSpPr txBox="1"/>
          <p:nvPr/>
        </p:nvSpPr>
        <p:spPr>
          <a:xfrm>
            <a:off x="962025" y="2000250"/>
            <a:ext cx="4730591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C2626"/>
                </a:solidFill>
                <a:latin typeface="Poppins"/>
                <a:ea typeface="Poppins"/>
                <a:cs typeface="Poppins"/>
                <a:sym typeface="Poppins"/>
              </a:rPr>
              <a:t>困境 &amp; 決策點</a:t>
            </a:r>
            <a:endParaRPr/>
          </a:p>
        </p:txBody>
      </p:sp>
      <p:sp>
        <p:nvSpPr>
          <p:cNvPr id="169" name="Google Shape;169;p17"/>
          <p:cNvSpPr/>
          <p:nvPr/>
        </p:nvSpPr>
        <p:spPr>
          <a:xfrm>
            <a:off x="962025" y="2476500"/>
            <a:ext cx="450532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7"/>
          <p:cNvSpPr txBox="1"/>
          <p:nvPr/>
        </p:nvSpPr>
        <p:spPr>
          <a:xfrm>
            <a:off x="6724650" y="2000250"/>
            <a:ext cx="4730591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6A34A"/>
                </a:solidFill>
                <a:latin typeface="Poppins"/>
                <a:ea typeface="Poppins"/>
                <a:cs typeface="Poppins"/>
                <a:sym typeface="Poppins"/>
              </a:rPr>
              <a:t>除錯成果</a:t>
            </a:r>
            <a:endParaRPr/>
          </a:p>
        </p:txBody>
      </p:sp>
      <p:sp>
        <p:nvSpPr>
          <p:cNvPr id="171" name="Google Shape;171;p17"/>
          <p:cNvSpPr/>
          <p:nvPr/>
        </p:nvSpPr>
        <p:spPr>
          <a:xfrm>
            <a:off x="6724650" y="2476500"/>
            <a:ext cx="450532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/>
          <p:cNvSpPr txBox="1"/>
          <p:nvPr/>
        </p:nvSpPr>
        <p:spPr>
          <a:xfrm>
            <a:off x="1304925" y="2724150"/>
            <a:ext cx="416242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系統困境：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 RTC (DS1307) 在主程式中持續讀取失敗 (ERR)，通訊狀態陷入不明。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1304925" y="3920132"/>
            <a:ext cx="4162425" cy="10150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關鍵決策：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 絕不盲目修改主邏輯！要求 AI 撰寫獨立測試程式 (hw_i2c_debug.ino) 進行隔離診斷。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7067550" y="2724150"/>
            <a:ext cx="41624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透過測試程式進行暫存器掃描 (Register Dump)，排除雜訊干擾。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7067550" y="3584971"/>
            <a:ext cx="41624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發現「多位元組讀取時 ACK/STOP 順序不合規」與「冷啟動無效日期」核心問題。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7067550" y="4445793"/>
            <a:ext cx="41624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在隔離環境中測通後，再</a:t>
            </a:r>
            <a:r>
              <a:rPr b="1" i="0" lang="en-US" sz="16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手術式回填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至主系統。</a:t>
            </a:r>
            <a:endParaRPr/>
          </a:p>
        </p:txBody>
      </p:sp>
      <p:pic>
        <p:nvPicPr>
          <p:cNvPr descr="image.png" id="177" name="Google Shape;17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2767012"/>
            <a:ext cx="148232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2025" y="3962995"/>
            <a:ext cx="148232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24650" y="2767012"/>
            <a:ext cx="148232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724650" y="3627834"/>
            <a:ext cx="148232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724650" y="4488656"/>
            <a:ext cx="148232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7"/>
          <p:cNvSpPr txBox="1"/>
          <p:nvPr/>
        </p:nvSpPr>
        <p:spPr>
          <a:xfrm>
            <a:off x="762000" y="647700"/>
            <a:ext cx="114014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關鍵除錯實錄一：解決 RTC 頑疾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7" name="Google Shape;18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35918"/>
            <a:ext cx="5286375" cy="46720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635918"/>
            <a:ext cx="5286375" cy="4672012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8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8"/>
          <p:cNvSpPr txBox="1"/>
          <p:nvPr/>
        </p:nvSpPr>
        <p:spPr>
          <a:xfrm>
            <a:off x="962025" y="2074068"/>
            <a:ext cx="4730591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C2626"/>
                </a:solidFill>
                <a:latin typeface="Poppins"/>
                <a:ea typeface="Poppins"/>
                <a:cs typeface="Poppins"/>
                <a:sym typeface="Poppins"/>
              </a:rPr>
              <a:t>困境與 AI 盲點</a:t>
            </a:r>
            <a:endParaRPr/>
          </a:p>
        </p:txBody>
      </p:sp>
      <p:sp>
        <p:nvSpPr>
          <p:cNvPr id="192" name="Google Shape;192;p18"/>
          <p:cNvSpPr/>
          <p:nvPr/>
        </p:nvSpPr>
        <p:spPr>
          <a:xfrm>
            <a:off x="962025" y="2607468"/>
            <a:ext cx="450532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8"/>
          <p:cNvSpPr txBox="1"/>
          <p:nvPr/>
        </p:nvSpPr>
        <p:spPr>
          <a:xfrm>
            <a:off x="6724650" y="2074068"/>
            <a:ext cx="4730591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6A34A"/>
                </a:solidFill>
                <a:latin typeface="Poppins"/>
                <a:ea typeface="Poppins"/>
                <a:cs typeface="Poppins"/>
                <a:sym typeface="Poppins"/>
              </a:rPr>
              <a:t>領域知識的價值</a:t>
            </a:r>
            <a:endParaRPr/>
          </a:p>
        </p:txBody>
      </p:sp>
      <p:sp>
        <p:nvSpPr>
          <p:cNvPr id="194" name="Google Shape;194;p18"/>
          <p:cNvSpPr/>
          <p:nvPr/>
        </p:nvSpPr>
        <p:spPr>
          <a:xfrm>
            <a:off x="6724650" y="2607468"/>
            <a:ext cx="450532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8"/>
          <p:cNvSpPr txBox="1"/>
          <p:nvPr/>
        </p:nvSpPr>
        <p:spPr>
          <a:xfrm>
            <a:off x="1304925" y="2855118"/>
            <a:ext cx="416242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系統困境：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 畫面更新頻率無法精準維持在每秒一次，出現時間漂移與不穩定。</a:t>
            </a:r>
            <a:endParaRPr/>
          </a:p>
        </p:txBody>
      </p:sp>
      <p:sp>
        <p:nvSpPr>
          <p:cNvPr id="196" name="Google Shape;196;p18"/>
          <p:cNvSpPr txBox="1"/>
          <p:nvPr/>
        </p:nvSpPr>
        <p:spPr>
          <a:xfrm>
            <a:off x="1304925" y="4051101"/>
            <a:ext cx="4162425" cy="10150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AI 的盲點：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 預設使用軟體定時器 (millis()) 進行排程，容易受到主迴圈其他任務阻塞而產生延遲。</a:t>
            </a:r>
            <a:endParaRPr/>
          </a:p>
        </p:txBody>
      </p:sp>
      <p:sp>
        <p:nvSpPr>
          <p:cNvPr id="197" name="Google Shape;197;p18"/>
          <p:cNvSpPr txBox="1"/>
          <p:nvPr/>
        </p:nvSpPr>
        <p:spPr>
          <a:xfrm>
            <a:off x="7067550" y="2855118"/>
            <a:ext cx="4162425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專家決策：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 使用者運用領域知識，主動提示 AI 應改用 </a:t>
            </a:r>
            <a:r>
              <a:rPr b="1" i="0" lang="en-US" sz="16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RTC (硬體時鐘)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 的資料作為時間基準來觸發更新。</a:t>
            </a:r>
            <a:endParaRPr/>
          </a:p>
        </p:txBody>
      </p:sp>
      <p:sp>
        <p:nvSpPr>
          <p:cNvPr id="198" name="Google Shape;198;p18"/>
          <p:cNvSpPr txBox="1"/>
          <p:nvPr/>
        </p:nvSpPr>
        <p:spPr>
          <a:xfrm>
            <a:off x="7067550" y="4386262"/>
            <a:ext cx="4162425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核心洞察 (Insight)：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 若缺乏足夠的硬體領域知識來給予正確的技術提示，便難以引導 AI 突破盲點，發揮其最大價值。</a:t>
            </a:r>
            <a:endParaRPr/>
          </a:p>
        </p:txBody>
      </p:sp>
      <p:pic>
        <p:nvPicPr>
          <p:cNvPr descr="image.png" id="199" name="Google Shape;19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2907506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2025" y="4103489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24650" y="2907506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724650" y="4438650"/>
            <a:ext cx="14287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8"/>
          <p:cNvSpPr txBox="1"/>
          <p:nvPr/>
        </p:nvSpPr>
        <p:spPr>
          <a:xfrm>
            <a:off x="762000" y="626268"/>
            <a:ext cx="114014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關鍵除錯實錄二：時序精準度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8" name="Google Shape;20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9"/>
          <p:cNvSpPr txBox="1"/>
          <p:nvPr/>
        </p:nvSpPr>
        <p:spPr>
          <a:xfrm>
            <a:off x="1493862" y="6286500"/>
            <a:ext cx="25434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E2E8F0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1</a:t>
            </a:r>
            <a:endParaRPr/>
          </a:p>
        </p:txBody>
      </p:sp>
      <p:sp>
        <p:nvSpPr>
          <p:cNvPr id="210" name="Google Shape;210;p19"/>
          <p:cNvSpPr txBox="1"/>
          <p:nvPr/>
        </p:nvSpPr>
        <p:spPr>
          <a:xfrm>
            <a:off x="3731195" y="1419225"/>
            <a:ext cx="25434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E2E8F0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2</a:t>
            </a:r>
            <a:endParaRPr/>
          </a:p>
        </p:txBody>
      </p:sp>
      <p:sp>
        <p:nvSpPr>
          <p:cNvPr id="211" name="Google Shape;211;p19"/>
          <p:cNvSpPr txBox="1"/>
          <p:nvPr/>
        </p:nvSpPr>
        <p:spPr>
          <a:xfrm>
            <a:off x="5968528" y="6286500"/>
            <a:ext cx="25434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E2E8F0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3</a:t>
            </a:r>
            <a:endParaRPr/>
          </a:p>
        </p:txBody>
      </p:sp>
      <p:sp>
        <p:nvSpPr>
          <p:cNvPr id="212" name="Google Shape;212;p19"/>
          <p:cNvSpPr txBox="1"/>
          <p:nvPr/>
        </p:nvSpPr>
        <p:spPr>
          <a:xfrm>
            <a:off x="8205861" y="1419225"/>
            <a:ext cx="25434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E2E8F0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4</a:t>
            </a:r>
            <a:endParaRPr/>
          </a:p>
        </p:txBody>
      </p:sp>
      <p:sp>
        <p:nvSpPr>
          <p:cNvPr id="213" name="Google Shape;213;p19"/>
          <p:cNvSpPr txBox="1"/>
          <p:nvPr/>
        </p:nvSpPr>
        <p:spPr>
          <a:xfrm>
            <a:off x="10443195" y="6286500"/>
            <a:ext cx="25434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E2E8F0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5</a:t>
            </a:r>
            <a:endParaRPr/>
          </a:p>
        </p:txBody>
      </p:sp>
      <p:sp>
        <p:nvSpPr>
          <p:cNvPr id="214" name="Google Shape;214;p19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9"/>
          <p:cNvSpPr/>
          <p:nvPr/>
        </p:nvSpPr>
        <p:spPr>
          <a:xfrm>
            <a:off x="571500" y="3895725"/>
            <a:ext cx="11049000" cy="57150"/>
          </a:xfrm>
          <a:prstGeom prst="roundRect">
            <a:avLst>
              <a:gd fmla="val 50000" name="adj"/>
            </a:avLst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9"/>
          <p:cNvSpPr txBox="1"/>
          <p:nvPr/>
        </p:nvSpPr>
        <p:spPr>
          <a:xfrm>
            <a:off x="619031" y="2747367"/>
            <a:ext cx="2004156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基本規則</a:t>
            </a:r>
            <a:endParaRPr/>
          </a:p>
        </p:txBody>
      </p:sp>
      <p:sp>
        <p:nvSpPr>
          <p:cNvPr id="217" name="Google Shape;217;p19"/>
          <p:cNvSpPr txBox="1"/>
          <p:nvPr/>
        </p:nvSpPr>
        <p:spPr>
          <a:xfrm>
            <a:off x="666750" y="3109317"/>
            <a:ext cx="1908720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透過 GEM बुन्देलMINI.md 確立開發風格與底層規範。</a:t>
            </a:r>
            <a:endParaRPr/>
          </a:p>
        </p:txBody>
      </p:sp>
      <p:sp>
        <p:nvSpPr>
          <p:cNvPr id="218" name="Google Shape;218;p19"/>
          <p:cNvSpPr txBox="1"/>
          <p:nvPr/>
        </p:nvSpPr>
        <p:spPr>
          <a:xfrm>
            <a:off x="2856365" y="4400550"/>
            <a:ext cx="2004156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提供需求</a:t>
            </a:r>
            <a:endParaRPr/>
          </a:p>
        </p:txBody>
      </p:sp>
      <p:sp>
        <p:nvSpPr>
          <p:cNvPr id="219" name="Google Shape;219;p19"/>
          <p:cNvSpPr txBox="1"/>
          <p:nvPr/>
        </p:nvSpPr>
        <p:spPr>
          <a:xfrm>
            <a:off x="2904083" y="4762500"/>
            <a:ext cx="190872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給予詳細 readme.md 與硬體配置表。</a:t>
            </a:r>
            <a:endParaRPr/>
          </a:p>
        </p:txBody>
      </p:sp>
      <p:sp>
        <p:nvSpPr>
          <p:cNvPr id="220" name="Google Shape;220;p19"/>
          <p:cNvSpPr txBox="1"/>
          <p:nvPr/>
        </p:nvSpPr>
        <p:spPr>
          <a:xfrm>
            <a:off x="5093698" y="2987278"/>
            <a:ext cx="2004156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架構規劃</a:t>
            </a:r>
            <a:endParaRPr/>
          </a:p>
        </p:txBody>
      </p:sp>
      <p:sp>
        <p:nvSpPr>
          <p:cNvPr id="221" name="Google Shape;221;p19"/>
          <p:cNvSpPr txBox="1"/>
          <p:nvPr/>
        </p:nvSpPr>
        <p:spPr>
          <a:xfrm>
            <a:off x="5141416" y="3349228"/>
            <a:ext cx="190872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寫程式前先要求架構分析 (Strategy)。</a:t>
            </a:r>
            <a:endParaRPr/>
          </a:p>
        </p:txBody>
      </p:sp>
      <p:sp>
        <p:nvSpPr>
          <p:cNvPr id="222" name="Google Shape;222;p19"/>
          <p:cNvSpPr txBox="1"/>
          <p:nvPr/>
        </p:nvSpPr>
        <p:spPr>
          <a:xfrm>
            <a:off x="7331031" y="4400550"/>
            <a:ext cx="2004156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開始實作</a:t>
            </a:r>
            <a:endParaRPr/>
          </a:p>
        </p:txBody>
      </p:sp>
      <p:sp>
        <p:nvSpPr>
          <p:cNvPr id="223" name="Google Shape;223;p19"/>
          <p:cNvSpPr txBox="1"/>
          <p:nvPr/>
        </p:nvSpPr>
        <p:spPr>
          <a:xfrm>
            <a:off x="7378749" y="4762500"/>
            <a:ext cx="190872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嚴格遵守 Bottom-Up 進行分層開發。</a:t>
            </a:r>
            <a:endParaRPr/>
          </a:p>
        </p:txBody>
      </p:sp>
      <p:sp>
        <p:nvSpPr>
          <p:cNvPr id="224" name="Google Shape;224;p19"/>
          <p:cNvSpPr txBox="1"/>
          <p:nvPr/>
        </p:nvSpPr>
        <p:spPr>
          <a:xfrm>
            <a:off x="9568364" y="2987278"/>
            <a:ext cx="2004156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反覆 Debug</a:t>
            </a:r>
            <a:endParaRPr/>
          </a:p>
        </p:txBody>
      </p:sp>
      <p:sp>
        <p:nvSpPr>
          <p:cNvPr id="225" name="Google Shape;225;p19"/>
          <p:cNvSpPr txBox="1"/>
          <p:nvPr/>
        </p:nvSpPr>
        <p:spPr>
          <a:xfrm>
            <a:off x="9616082" y="3349228"/>
            <a:ext cx="190872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根據現象與 Log，引導 AI 深入底層修正。</a:t>
            </a:r>
            <a:endParaRPr/>
          </a:p>
        </p:txBody>
      </p:sp>
      <p:sp>
        <p:nvSpPr>
          <p:cNvPr id="226" name="Google Shape;226;p19"/>
          <p:cNvSpPr txBox="1"/>
          <p:nvPr/>
        </p:nvSpPr>
        <p:spPr>
          <a:xfrm>
            <a:off x="762000" y="647700"/>
            <a:ext cx="114014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從規則到成品：結構化的 AI 協作</a:t>
            </a:r>
            <a:endParaRPr/>
          </a:p>
        </p:txBody>
      </p:sp>
      <p:sp>
        <p:nvSpPr>
          <p:cNvPr id="227" name="Google Shape;227;p19"/>
          <p:cNvSpPr/>
          <p:nvPr/>
        </p:nvSpPr>
        <p:spPr>
          <a:xfrm>
            <a:off x="1506810" y="400050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476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9"/>
          <p:cNvSpPr/>
          <p:nvPr/>
        </p:nvSpPr>
        <p:spPr>
          <a:xfrm>
            <a:off x="3744143" y="400050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476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9"/>
          <p:cNvSpPr/>
          <p:nvPr/>
        </p:nvSpPr>
        <p:spPr>
          <a:xfrm>
            <a:off x="5981476" y="400050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476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9"/>
          <p:cNvSpPr/>
          <p:nvPr/>
        </p:nvSpPr>
        <p:spPr>
          <a:xfrm>
            <a:off x="8218809" y="400050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476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9"/>
          <p:cNvSpPr/>
          <p:nvPr/>
        </p:nvSpPr>
        <p:spPr>
          <a:xfrm>
            <a:off x="10456143" y="400050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476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6" name="Google Shape;23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097958"/>
            <a:ext cx="11049000" cy="11885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562100"/>
            <a:ext cx="3492549" cy="32501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49799" y="1562100"/>
            <a:ext cx="3492549" cy="32501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28099" y="1562100"/>
            <a:ext cx="3492549" cy="3250108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0"/>
          <p:cNvSpPr txBox="1"/>
          <p:nvPr/>
        </p:nvSpPr>
        <p:spPr>
          <a:xfrm>
            <a:off x="952500" y="5326558"/>
            <a:ext cx="103632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A580C"/>
                </a:solidFill>
                <a:latin typeface="Inter Black"/>
                <a:ea typeface="Inter Black"/>
                <a:cs typeface="Inter Black"/>
                <a:sym typeface="Inter Black"/>
              </a:rPr>
              <a:t>總結：</a:t>
            </a:r>
            <a:r>
              <a:rPr b="0" i="0" lang="en-US" sz="18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AI 是一個強大的執行器，搭配人類的專業判斷與精確的方向引導，能大幅縮短嵌入式系統的開發週期！</a:t>
            </a:r>
            <a:endParaRPr/>
          </a:p>
        </p:txBody>
      </p:sp>
      <p:pic>
        <p:nvPicPr>
          <p:cNvPr descr="image.png" id="243" name="Google Shape;243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6775" y="200025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0"/>
          <p:cNvSpPr txBox="1"/>
          <p:nvPr/>
        </p:nvSpPr>
        <p:spPr>
          <a:xfrm>
            <a:off x="866775" y="2800350"/>
            <a:ext cx="28003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快</a:t>
            </a:r>
            <a:endParaRPr/>
          </a:p>
        </p:txBody>
      </p:sp>
      <p:sp>
        <p:nvSpPr>
          <p:cNvPr id="245" name="Google Shape;245;p20"/>
          <p:cNvSpPr txBox="1"/>
          <p:nvPr/>
        </p:nvSpPr>
        <p:spPr>
          <a:xfrm>
            <a:off x="866775" y="3314700"/>
            <a:ext cx="2901999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AI 實作底層暫存器與大量格式化字串的速度，遠遠超越傳統手寫代碼。</a:t>
            </a:r>
            <a:endParaRPr/>
          </a:p>
        </p:txBody>
      </p:sp>
      <p:pic>
        <p:nvPicPr>
          <p:cNvPr descr="image.png" id="246" name="Google Shape;246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45074" y="200025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0"/>
          <p:cNvSpPr txBox="1"/>
          <p:nvPr/>
        </p:nvSpPr>
        <p:spPr>
          <a:xfrm>
            <a:off x="4645074" y="2800350"/>
            <a:ext cx="28003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狠</a:t>
            </a:r>
            <a:endParaRPr/>
          </a:p>
        </p:txBody>
      </p:sp>
      <p:sp>
        <p:nvSpPr>
          <p:cNvPr id="248" name="Google Shape;248;p20"/>
          <p:cNvSpPr txBox="1"/>
          <p:nvPr/>
        </p:nvSpPr>
        <p:spPr>
          <a:xfrm>
            <a:off x="4645074" y="3314700"/>
            <a:ext cx="2901999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精確切入硬體手冊 (RM0008) 規範，果斷捨棄臃腫緩慢的高階函式庫。</a:t>
            </a:r>
            <a:endParaRPr/>
          </a:p>
        </p:txBody>
      </p:sp>
      <p:pic>
        <p:nvPicPr>
          <p:cNvPr descr="image.png" id="249" name="Google Shape;249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423374" y="200025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0"/>
          <p:cNvSpPr txBox="1"/>
          <p:nvPr/>
        </p:nvSpPr>
        <p:spPr>
          <a:xfrm>
            <a:off x="8423374" y="2800350"/>
            <a:ext cx="28003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準</a:t>
            </a:r>
            <a:endParaRPr/>
          </a:p>
        </p:txBody>
      </p:sp>
      <p:sp>
        <p:nvSpPr>
          <p:cNvPr id="251" name="Google Shape;251;p20"/>
          <p:cNvSpPr txBox="1"/>
          <p:nvPr/>
        </p:nvSpPr>
        <p:spPr>
          <a:xfrm>
            <a:off x="8423374" y="3314700"/>
            <a:ext cx="2901999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「有明確的方向，可以更快解決問題。」精準的 Prompt 是成功的最大關鍵。</a:t>
            </a:r>
            <a:endParaRPr/>
          </a:p>
        </p:txBody>
      </p:sp>
      <p:pic>
        <p:nvPicPr>
          <p:cNvPr descr="image.png" id="252" name="Google Shape;252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19026" y="2114550"/>
            <a:ext cx="266848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3" name="Google Shape;253;p2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797325" y="2114550"/>
            <a:ext cx="266848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4" name="Google Shape;254;p2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575625" y="2114550"/>
            <a:ext cx="266848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0"/>
          <p:cNvSpPr txBox="1"/>
          <p:nvPr/>
        </p:nvSpPr>
        <p:spPr>
          <a:xfrm>
            <a:off x="762000" y="647700"/>
            <a:ext cx="114014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開發心得總結：快、狠、準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0" name="Google Shape;26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62100"/>
            <a:ext cx="3492549" cy="472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1562100"/>
            <a:ext cx="3492549" cy="472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3" name="Google Shape;263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1562100"/>
            <a:ext cx="3492549" cy="472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5" name="Google Shape;265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00025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1"/>
          <p:cNvSpPr txBox="1"/>
          <p:nvPr/>
        </p:nvSpPr>
        <p:spPr>
          <a:xfrm>
            <a:off x="866775" y="2800350"/>
            <a:ext cx="14001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累積與共享</a:t>
            </a:r>
            <a:endParaRPr/>
          </a:p>
        </p:txBody>
      </p:sp>
      <p:sp>
        <p:nvSpPr>
          <p:cNvPr id="267" name="Google Shape;267;p21"/>
          <p:cNvSpPr txBox="1"/>
          <p:nvPr/>
        </p:nvSpPr>
        <p:spPr>
          <a:xfrm>
            <a:off x="866775" y="3314700"/>
            <a:ext cx="2901999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詳細記錄每一次的 Prompt 決策，將除錯歷程沉澱為文件，便於團隊內部知識共享與技術傳承。</a:t>
            </a:r>
            <a:endParaRPr/>
          </a:p>
        </p:txBody>
      </p:sp>
      <p:pic>
        <p:nvPicPr>
          <p:cNvPr descr="image.png" id="268" name="Google Shape;268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5074" y="200025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1"/>
          <p:cNvSpPr txBox="1"/>
          <p:nvPr/>
        </p:nvSpPr>
        <p:spPr>
          <a:xfrm>
            <a:off x="4645074" y="2800350"/>
            <a:ext cx="2178084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持續迭代 Prompt</a:t>
            </a:r>
            <a:endParaRPr/>
          </a:p>
        </p:txBody>
      </p:sp>
      <p:sp>
        <p:nvSpPr>
          <p:cNvPr id="270" name="Google Shape;270;p21"/>
          <p:cNvSpPr txBox="1"/>
          <p:nvPr/>
        </p:nvSpPr>
        <p:spPr>
          <a:xfrm>
            <a:off x="4645074" y="3314700"/>
            <a:ext cx="2901999" cy="1350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根據實務遇到的盲點，持續將新建立的開發規範更新至 GEMINI.md，打造越用越懂專案的 AI 助理。</a:t>
            </a:r>
            <a:endParaRPr/>
          </a:p>
        </p:txBody>
      </p:sp>
      <p:pic>
        <p:nvPicPr>
          <p:cNvPr descr="image.png" id="271" name="Google Shape;271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374" y="200025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1"/>
          <p:cNvSpPr txBox="1"/>
          <p:nvPr/>
        </p:nvSpPr>
        <p:spPr>
          <a:xfrm>
            <a:off x="8423374" y="2800350"/>
            <a:ext cx="168021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融入日常開發</a:t>
            </a:r>
            <a:endParaRPr/>
          </a:p>
        </p:txBody>
      </p:sp>
      <p:sp>
        <p:nvSpPr>
          <p:cNvPr id="273" name="Google Shape;273;p21"/>
          <p:cNvSpPr txBox="1"/>
          <p:nvPr/>
        </p:nvSpPr>
        <p:spPr>
          <a:xfrm>
            <a:off x="8423374" y="3314700"/>
            <a:ext cx="2901999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讓 AI 從單純的「問答工具箱」進化為具備專案脈絡記憶的「虛擬共同開發者」，真正實現工作產能的飛躍。</a:t>
            </a:r>
            <a:endParaRPr/>
          </a:p>
        </p:txBody>
      </p:sp>
      <p:pic>
        <p:nvPicPr>
          <p:cNvPr descr="image.png" id="274" name="Google Shape;274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19026" y="2114550"/>
            <a:ext cx="266848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5" name="Google Shape;275;p2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797325" y="2114550"/>
            <a:ext cx="266848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6" name="Google Shape;276;p2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575625" y="2114550"/>
            <a:ext cx="266848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1"/>
          <p:cNvSpPr txBox="1"/>
          <p:nvPr/>
        </p:nvSpPr>
        <p:spPr>
          <a:xfrm>
            <a:off x="762000" y="647700"/>
            <a:ext cx="114014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放眼未來：結合工作與團隊賦能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